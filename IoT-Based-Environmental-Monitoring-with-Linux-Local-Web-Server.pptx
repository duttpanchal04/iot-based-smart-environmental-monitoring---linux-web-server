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5" r:id="rId10"/>
    <p:sldMasterId id="2147483667" r:id="rId11"/>
    <p:sldMasterId id="214748366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D962BAD-2BAE-471D-A5B9-ED66BB55D22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72C71B-C0D0-4CB9-AEE0-D6B71241019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700F83-706E-4BD4-9980-6019469C30E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52D2D9-661D-4FE6-B1BE-204463226FA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A751A0-A976-4CFB-8584-7044D1D767C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BCB3D3B-F61C-4572-9BBA-AA1AF74B4EE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42F115-08C4-4F7D-8402-1FE2BDD9F68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BB92BE-A46A-4233-B407-DE4BC184DF9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A8B601-E1DB-4A87-BBF1-946FA808146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B90A3C-BD0B-4C12-A934-9847F18C267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DB2990-5194-4DA9-998F-1964E2A8782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2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  <p:sldLayoutId id="2147483664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3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5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4630040" cy="8229240"/>
          </a:xfrm>
          <a:prstGeom prst="rect">
            <a:avLst/>
          </a:prstGeom>
          <a:ln w="0">
            <a:noFill/>
          </a:ln>
        </p:spPr>
      </p:pic>
      <p:sp>
        <p:nvSpPr>
          <p:cNvPr id="4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00018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1" descr="preencoded.png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9" name="Text 0"/>
          <p:cNvSpPr/>
          <p:nvPr/>
        </p:nvSpPr>
        <p:spPr>
          <a:xfrm>
            <a:off x="793800" y="2011320"/>
            <a:ext cx="7556040" cy="21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IoT-Based Environmental Monitoring with Linux Local Web Server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793800" y="447768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This presentation explores the development and implementation of a robust IoT-based environmental monitoring system utilizing a local Linux web server for data storage and visualization.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793800" y="5838480"/>
            <a:ext cx="362520" cy="362520"/>
          </a:xfrm>
          <a:prstGeom prst="roundRect">
            <a:avLst>
              <a:gd name="adj" fmla="val 25194296"/>
            </a:avLst>
          </a:prstGeom>
          <a:solidFill>
            <a:srgbClr val="0a18fc"/>
          </a:solidFill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912240" y="5970960"/>
            <a:ext cx="125640" cy="9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751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DP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1270080" y="5821560"/>
            <a:ext cx="19933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101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fd0d8"/>
                </a:solidFill>
                <a:latin typeface="Roboto Bold"/>
                <a:ea typeface="Roboto Bold"/>
              </a:rPr>
              <a:t>by Datt Panchal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793800" y="218556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Overview: Real-Time Monitoring and Local Data Storage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793800" y="4169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Roboto Medium"/>
                <a:ea typeface="Roboto Medium"/>
              </a:rPr>
              <a:t>Objective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793800" y="4751280"/>
            <a:ext cx="6244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Real-time monitoring of environmental conditions such as temperature, humidity, air quality, and other relevant parameters.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7599600" y="41698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Roboto Medium"/>
                <a:ea typeface="Roboto Medium"/>
              </a:rPr>
              <a:t>Features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7599600" y="4751280"/>
            <a:ext cx="6244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Secure local data storage, eliminating reliance on external cloud services, and ensuring data privacy and reliability.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738000" y="680040"/>
            <a:ext cx="808596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151"/>
              </a:lnSpc>
              <a:tabLst>
                <a:tab algn="l" pos="0"/>
              </a:tabLst>
            </a:pPr>
            <a:r>
              <a:rPr b="0" lang="en-US" sz="41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Architecture: A Connected System</a:t>
            </a:r>
            <a:endParaRPr b="0" lang="en-US" sz="4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7303680" y="1760400"/>
            <a:ext cx="22680" cy="5788800"/>
          </a:xfrm>
          <a:prstGeom prst="roundRect">
            <a:avLst>
              <a:gd name="adj" fmla="val 387335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6468480" y="2223360"/>
            <a:ext cx="632160" cy="22680"/>
          </a:xfrm>
          <a:prstGeom prst="roundRect">
            <a:avLst>
              <a:gd name="adj" fmla="val 387335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7077960" y="1997640"/>
            <a:ext cx="474120" cy="474120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7157160" y="2037240"/>
            <a:ext cx="315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49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1</a:t>
            </a:r>
            <a:endParaRPr b="0" lang="en-US" sz="2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3625920" y="1971360"/>
            <a:ext cx="26348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551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Sensors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738000" y="2427120"/>
            <a:ext cx="552312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265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cfd0d8"/>
                </a:solidFill>
                <a:latin typeface="Roboto"/>
                <a:ea typeface="Roboto"/>
              </a:rPr>
              <a:t>Environmental sensors gather data on various parameters, providing real-time insights.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7529400" y="3277440"/>
            <a:ext cx="632160" cy="22680"/>
          </a:xfrm>
          <a:prstGeom prst="roundRect">
            <a:avLst>
              <a:gd name="adj" fmla="val 387335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7077960" y="3051720"/>
            <a:ext cx="474120" cy="474120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7157160" y="3090960"/>
            <a:ext cx="315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49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2</a:t>
            </a:r>
            <a:endParaRPr b="0" lang="en-US" sz="2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8369280" y="3025080"/>
            <a:ext cx="26348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ESP8266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8369280" y="3480840"/>
            <a:ext cx="552312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cfd0d8"/>
                </a:solidFill>
                <a:latin typeface="Roboto"/>
                <a:ea typeface="Roboto"/>
              </a:rPr>
              <a:t>The microcontroller gathers data from sensors, processes it, and transmits it to the server.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6468480" y="4226040"/>
            <a:ext cx="632160" cy="22680"/>
          </a:xfrm>
          <a:prstGeom prst="roundRect">
            <a:avLst>
              <a:gd name="adj" fmla="val 387335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3"/>
          <p:cNvSpPr/>
          <p:nvPr/>
        </p:nvSpPr>
        <p:spPr>
          <a:xfrm>
            <a:off x="7077960" y="4000320"/>
            <a:ext cx="474120" cy="474120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7157160" y="4039560"/>
            <a:ext cx="315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49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3</a:t>
            </a:r>
            <a:endParaRPr b="0" lang="en-US" sz="2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3625920" y="3973680"/>
            <a:ext cx="26348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551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Server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738000" y="4429440"/>
            <a:ext cx="5523120" cy="101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265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cfd0d8"/>
                </a:solidFill>
                <a:latin typeface="Roboto"/>
                <a:ea typeface="Roboto"/>
              </a:rPr>
              <a:t>The local server receives data from the microcontroller, stores it in the database, and serves web pages for visualization.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7529400" y="5275800"/>
            <a:ext cx="632160" cy="22680"/>
          </a:xfrm>
          <a:prstGeom prst="roundRect">
            <a:avLst>
              <a:gd name="adj" fmla="val 387335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8"/>
          <p:cNvSpPr/>
          <p:nvPr/>
        </p:nvSpPr>
        <p:spPr>
          <a:xfrm>
            <a:off x="7077960" y="5050080"/>
            <a:ext cx="474120" cy="474120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7157160" y="5089680"/>
            <a:ext cx="315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49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4</a:t>
            </a:r>
            <a:endParaRPr b="0" lang="en-US" sz="2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8369280" y="5023440"/>
            <a:ext cx="26348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Database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21"/>
          <p:cNvSpPr/>
          <p:nvPr/>
        </p:nvSpPr>
        <p:spPr>
          <a:xfrm>
            <a:off x="8369280" y="5479200"/>
            <a:ext cx="552312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cfd0d8"/>
                </a:solidFill>
                <a:latin typeface="Roboto"/>
                <a:ea typeface="Roboto"/>
              </a:rPr>
              <a:t>A dedicated database stores all collected sensor data for analysis and retrieval.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6468480" y="6325920"/>
            <a:ext cx="632160" cy="22680"/>
          </a:xfrm>
          <a:prstGeom prst="roundRect">
            <a:avLst>
              <a:gd name="adj" fmla="val 387335"/>
            </a:avLst>
          </a:prstGeom>
          <a:solidFill>
            <a:srgbClr val="313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8800" bIns="-288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23"/>
          <p:cNvSpPr/>
          <p:nvPr/>
        </p:nvSpPr>
        <p:spPr>
          <a:xfrm>
            <a:off x="7077960" y="6100200"/>
            <a:ext cx="474120" cy="474120"/>
          </a:xfrm>
          <a:prstGeom prst="roundRect">
            <a:avLst>
              <a:gd name="adj" fmla="val 18667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7157160" y="6139440"/>
            <a:ext cx="3157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49"/>
              </a:lnSpc>
              <a:tabLst>
                <a:tab algn="l" pos="0"/>
              </a:tabLst>
            </a:pPr>
            <a:r>
              <a:rPr b="0" lang="en-US" sz="24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5</a:t>
            </a:r>
            <a:endParaRPr b="0" lang="en-US" sz="2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3625920" y="6073560"/>
            <a:ext cx="26348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551"/>
              </a:lnSpc>
              <a:tabLst>
                <a:tab algn="l" pos="0"/>
              </a:tabLst>
            </a:pPr>
            <a:r>
              <a:rPr b="0" lang="en-US" sz="20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Visualization</a:t>
            </a:r>
            <a:endParaRPr b="0" lang="en-US" sz="2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6"/>
          <p:cNvSpPr/>
          <p:nvPr/>
        </p:nvSpPr>
        <p:spPr>
          <a:xfrm>
            <a:off x="738000" y="6529320"/>
            <a:ext cx="5523120" cy="6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2650"/>
              </a:lnSpc>
              <a:tabLst>
                <a:tab algn="l" pos="0"/>
              </a:tabLst>
            </a:pPr>
            <a:r>
              <a:rPr b="0" lang="en-US" sz="1650" spc="-1" strike="noStrike">
                <a:solidFill>
                  <a:srgbClr val="cfd0d8"/>
                </a:solidFill>
                <a:latin typeface="Roboto"/>
                <a:ea typeface="Roboto"/>
              </a:rPr>
              <a:t>Web pages display real-time and historical data, providing user-friendly access to environmental information.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914400" y="457200"/>
            <a:ext cx="12673440" cy="712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Circuit Diagram</a:t>
            </a:r>
            <a:endParaRPr b="0" lang="en-US" sz="4400" spc="-1" strike="noStrike">
              <a:solidFill>
                <a:srgbClr val="ffffff"/>
              </a:solidFill>
              <a:latin typeface="Calibri Light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2743200" y="1989360"/>
            <a:ext cx="9144000" cy="501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00" name="Text 0"/>
          <p:cNvSpPr/>
          <p:nvPr/>
        </p:nvSpPr>
        <p:spPr>
          <a:xfrm>
            <a:off x="793800" y="15660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Sensor </a:t>
            </a: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Integratio</a:t>
            </a: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n: </a:t>
            </a: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Expandin</a:t>
            </a: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g </a:t>
            </a: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Capabiliti</a:t>
            </a: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es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2"/>
          <a:stretch/>
        </p:blipFill>
        <p:spPr>
          <a:xfrm>
            <a:off x="793800" y="3323880"/>
            <a:ext cx="1133640" cy="1669320"/>
          </a:xfrm>
          <a:prstGeom prst="rect">
            <a:avLst/>
          </a:prstGeom>
          <a:ln w="0">
            <a:noFill/>
          </a:ln>
        </p:spPr>
      </p:pic>
      <p:sp>
        <p:nvSpPr>
          <p:cNvPr id="102" name="Text 1"/>
          <p:cNvSpPr/>
          <p:nvPr/>
        </p:nvSpPr>
        <p:spPr>
          <a:xfrm>
            <a:off x="2268000" y="35506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Temperature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2268000" y="4041000"/>
            <a:ext cx="60818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Me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as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ur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e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m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bie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nt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m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pe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rat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ur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e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to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m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on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ito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r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he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at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lev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els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an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d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ide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nti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fy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po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te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nti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al 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an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o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m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ali</a:t>
            </a: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es.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 2" descr="preencoded.png"/>
          <p:cNvPicPr/>
          <p:nvPr/>
        </p:nvPicPr>
        <p:blipFill>
          <a:blip r:embed="rId3"/>
          <a:stretch/>
        </p:blipFill>
        <p:spPr>
          <a:xfrm>
            <a:off x="793800" y="4993560"/>
            <a:ext cx="1133640" cy="1669320"/>
          </a:xfrm>
          <a:prstGeom prst="rect">
            <a:avLst/>
          </a:prstGeom>
          <a:ln w="0">
            <a:noFill/>
          </a:ln>
        </p:spPr>
      </p:pic>
      <p:sp>
        <p:nvSpPr>
          <p:cNvPr id="105" name="Text 3"/>
          <p:cNvSpPr/>
          <p:nvPr/>
        </p:nvSpPr>
        <p:spPr>
          <a:xfrm>
            <a:off x="2268000" y="5220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H</a:t>
            </a: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u</a:t>
            </a: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m</a:t>
            </a: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idi</a:t>
            </a: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ty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2268000" y="5710680"/>
            <a:ext cx="60818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Monitor humidity levels to track moisture content and assess potential risks or favorable conditions.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835000"/>
          </a:xfrm>
          <a:prstGeom prst="rect">
            <a:avLst/>
          </a:prstGeom>
          <a:ln w="0">
            <a:noFill/>
          </a:ln>
        </p:spPr>
      </p:pic>
      <p:sp>
        <p:nvSpPr>
          <p:cNvPr id="108" name="Text 0"/>
          <p:cNvSpPr/>
          <p:nvPr/>
        </p:nvSpPr>
        <p:spPr>
          <a:xfrm>
            <a:off x="793800" y="4272120"/>
            <a:ext cx="124567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Setup: Apache2 and MySQL Database Integration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793800" y="557640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1531080" y="5576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Apache2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3"/>
          <p:cNvSpPr/>
          <p:nvPr/>
        </p:nvSpPr>
        <p:spPr>
          <a:xfrm>
            <a:off x="1531080" y="6066720"/>
            <a:ext cx="56707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The web server is installed and configured to serve web pages and handle data requests.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7428600" y="557640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8165880" y="5576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MySQL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8165880" y="6066720"/>
            <a:ext cx="56707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The database is installed, configured, and tested to ensure secure and efficient data storage and retrieval.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16" name="Text 0"/>
          <p:cNvSpPr/>
          <p:nvPr/>
        </p:nvSpPr>
        <p:spPr>
          <a:xfrm>
            <a:off x="6280200" y="14288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MySQL Database</a:t>
            </a:r>
            <a:endParaRPr b="0" lang="en-US" sz="4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6280200" y="2477880"/>
            <a:ext cx="3664440" cy="241056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6514560" y="27122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Creation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6514560" y="3202560"/>
            <a:ext cx="319572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The dedicated database is created to store and manage environmental data effectively.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10171800" y="2477880"/>
            <a:ext cx="3664440" cy="2410560"/>
          </a:xfrm>
          <a:prstGeom prst="roundRect">
            <a:avLst>
              <a:gd name="adj" fmla="val 3952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10406160" y="27122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Data Insertion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10406160" y="3202560"/>
            <a:ext cx="31957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Testing data insertion ensures the database's functionality and ability to handle incoming sensor readings.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280200" y="5115600"/>
            <a:ext cx="7556040" cy="1684800"/>
          </a:xfrm>
          <a:prstGeom prst="roundRect">
            <a:avLst>
              <a:gd name="adj" fmla="val 5654"/>
            </a:avLst>
          </a:prstGeom>
          <a:solidFill>
            <a:srgbClr val="182567"/>
          </a:solidFill>
          <a:ln w="7620">
            <a:solidFill>
              <a:srgbClr val="313e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6514560" y="5349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fd0d8"/>
                </a:solidFill>
                <a:latin typeface="Roboto Medium"/>
                <a:ea typeface="Roboto Medium"/>
              </a:rPr>
              <a:t>Retrieval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6514560" y="5840280"/>
            <a:ext cx="70873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pc="-1" strike="noStrike">
                <a:solidFill>
                  <a:srgbClr val="cfd0d8"/>
                </a:solidFill>
                <a:latin typeface="Roboto"/>
                <a:ea typeface="Roboto"/>
              </a:rPr>
              <a:t>Testing data retrieval verifies the ability to access and retrieve stored data for visualization and analysis.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27" name="Text 0"/>
          <p:cNvSpPr/>
          <p:nvPr/>
        </p:nvSpPr>
        <p:spPr>
          <a:xfrm>
            <a:off x="6260760" y="610560"/>
            <a:ext cx="7594560" cy="13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00"/>
              </a:lnSpc>
              <a:tabLst>
                <a:tab algn="l" pos="0"/>
              </a:tabLst>
            </a:pPr>
            <a:r>
              <a:rPr b="0" lang="en-US" sz="43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Interaction: Data Flow and Presentation</a:t>
            </a:r>
            <a:endParaRPr b="0" lang="en-US" sz="4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Image 1" descr="preencoded.png"/>
          <p:cNvPicPr/>
          <p:nvPr/>
        </p:nvPicPr>
        <p:blipFill>
          <a:blip r:embed="rId2"/>
          <a:stretch/>
        </p:blipFill>
        <p:spPr>
          <a:xfrm>
            <a:off x="6260760" y="2325240"/>
            <a:ext cx="552960" cy="552960"/>
          </a:xfrm>
          <a:prstGeom prst="rect">
            <a:avLst/>
          </a:prstGeom>
          <a:ln w="0">
            <a:noFill/>
          </a:ln>
        </p:spPr>
      </p:pic>
      <p:sp>
        <p:nvSpPr>
          <p:cNvPr id="129" name="Text 1"/>
          <p:cNvSpPr/>
          <p:nvPr/>
        </p:nvSpPr>
        <p:spPr>
          <a:xfrm>
            <a:off x="6260760" y="3099600"/>
            <a:ext cx="276588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Data Transmission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6260760" y="3578040"/>
            <a:ext cx="3631320" cy="10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fd0d8"/>
                </a:solidFill>
                <a:latin typeface="Roboto"/>
                <a:ea typeface="Roboto"/>
              </a:rPr>
              <a:t>Sensors send data to the server via PHP, ensuring efficient data exchange and processing.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Image 2" descr="preencoded.png"/>
          <p:cNvPicPr/>
          <p:nvPr/>
        </p:nvPicPr>
        <p:blipFill>
          <a:blip r:embed="rId3"/>
          <a:stretch/>
        </p:blipFill>
        <p:spPr>
          <a:xfrm>
            <a:off x="10224360" y="2325240"/>
            <a:ext cx="552960" cy="552960"/>
          </a:xfrm>
          <a:prstGeom prst="rect">
            <a:avLst/>
          </a:prstGeom>
          <a:ln w="0">
            <a:noFill/>
          </a:ln>
        </p:spPr>
      </p:pic>
      <p:sp>
        <p:nvSpPr>
          <p:cNvPr id="132" name="Text 3"/>
          <p:cNvSpPr/>
          <p:nvPr/>
        </p:nvSpPr>
        <p:spPr>
          <a:xfrm>
            <a:off x="10224360" y="3099600"/>
            <a:ext cx="276588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Data Storage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0224360" y="3578040"/>
            <a:ext cx="3631320" cy="10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fd0d8"/>
                </a:solidFill>
                <a:latin typeface="Roboto"/>
                <a:ea typeface="Roboto"/>
              </a:rPr>
              <a:t>The server receives data, stores it in the database, and prepares data for web visualization.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3" descr="preencoded.png"/>
          <p:cNvPicPr/>
          <p:nvPr/>
        </p:nvPicPr>
        <p:blipFill>
          <a:blip r:embed="rId4"/>
          <a:stretch/>
        </p:blipFill>
        <p:spPr>
          <a:xfrm>
            <a:off x="6260760" y="5304240"/>
            <a:ext cx="552960" cy="552960"/>
          </a:xfrm>
          <a:prstGeom prst="rect">
            <a:avLst/>
          </a:prstGeom>
          <a:ln w="0">
            <a:noFill/>
          </a:ln>
        </p:spPr>
      </p:pic>
      <p:sp>
        <p:nvSpPr>
          <p:cNvPr id="135" name="Text 5"/>
          <p:cNvSpPr/>
          <p:nvPr/>
        </p:nvSpPr>
        <p:spPr>
          <a:xfrm>
            <a:off x="6260760" y="6078600"/>
            <a:ext cx="276588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01"/>
              </a:lnSpc>
              <a:tabLst>
                <a:tab algn="l" pos="0"/>
              </a:tabLst>
            </a:pPr>
            <a:r>
              <a:rPr b="0" lang="en-US" sz="2150" spc="-1" strike="noStrike">
                <a:solidFill>
                  <a:srgbClr val="cfd0d8"/>
                </a:solidFill>
                <a:latin typeface="Roboto Medium"/>
                <a:ea typeface="Roboto Medium"/>
              </a:rPr>
              <a:t>Web Display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6260760" y="6557040"/>
            <a:ext cx="3631320" cy="10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fd0d8"/>
                </a:solidFill>
                <a:latin typeface="Roboto"/>
                <a:ea typeface="Roboto"/>
              </a:rPr>
              <a:t>Data is presented on a responsive HTML table for user-friendly access and real-time insights.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046840" y="3831480"/>
            <a:ext cx="45360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4450"/>
              </a:lnSpc>
              <a:tabLst>
                <a:tab algn="l" pos="0"/>
              </a:tabLst>
            </a:pPr>
            <a:r>
              <a:rPr b="0" lang="en-US" sz="3550" spc="-1" strike="noStrike">
                <a:solidFill>
                  <a:srgbClr val="ffffff"/>
                </a:solidFill>
                <a:latin typeface="Roboto Medium"/>
                <a:ea typeface="Roboto Medium"/>
              </a:rPr>
              <a:t>Thank you</a:t>
            </a:r>
            <a:endParaRPr b="0" lang="en-US" sz="3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2025-03-10T16:48:09Z</dcterms:created>
  <dc:creator>PptxGenJS</dc:creator>
  <dc:description/>
  <dc:language>en-US</dc:language>
  <cp:lastModifiedBy/>
  <dcterms:modified xsi:type="dcterms:W3CDTF">2025-03-10T22:36:37Z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